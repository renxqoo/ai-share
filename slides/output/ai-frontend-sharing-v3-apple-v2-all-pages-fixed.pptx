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2"/>
            </p:custDataLst>
          </p:nvPr>
        </p:nvSpPr>
        <p:spPr>
          <a:xfrm>
            <a:off x="6858000" y="0"/>
            <a:ext cx="2283714" cy="3010662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Ellipse 3 (Stroke)_#color-2050&amp;12715"/>
          <p:cNvSpPr/>
          <p:nvPr userDrawn="1">
            <p:custDataLst>
              <p:tags r:id="rId3"/>
            </p:custDataLst>
          </p:nvPr>
        </p:nvSpPr>
        <p:spPr>
          <a:xfrm>
            <a:off x="4638294" y="1453896"/>
            <a:ext cx="4505706" cy="3689604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4"/>
            </p:custDataLst>
          </p:nvPr>
        </p:nvSpPr>
        <p:spPr>
          <a:xfrm>
            <a:off x="3984498" y="3435858"/>
            <a:ext cx="473202" cy="1488186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5"/>
            </p:custDataLst>
          </p:nvPr>
        </p:nvSpPr>
        <p:spPr>
          <a:xfrm>
            <a:off x="5054346" y="1460754"/>
            <a:ext cx="4087368" cy="1645920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654844" y="1358265"/>
            <a:ext cx="4324350" cy="1557338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05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628650" y="3171825"/>
            <a:ext cx="1991201" cy="4548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2462022" y="0"/>
            <a:ext cx="1728216" cy="5143500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504438" cy="5143500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2969514"/>
            <a:ext cx="3435858" cy="2173986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35644" y="2079331"/>
            <a:ext cx="1993511" cy="984909"/>
          </a:xfrm>
        </p:spPr>
        <p:txBody>
          <a:bodyPr wrap="square" anchor="ctr" anchorCtr="0">
            <a:normAutofit/>
          </a:bodyPr>
          <a:lstStyle>
            <a:lvl1pPr>
              <a:defRPr sz="36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143" y="0"/>
            <a:ext cx="9141714" cy="51435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3106674" cy="3408426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1049274"/>
            <a:ext cx="4574286" cy="4094226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1049274"/>
            <a:ext cx="4155948" cy="1645920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4970621" y="2352675"/>
            <a:ext cx="3545205" cy="1487329"/>
          </a:xfrm>
        </p:spPr>
        <p:txBody>
          <a:bodyPr wrap="square" anchor="t">
            <a:normAutofit/>
          </a:bodyPr>
          <a:lstStyle>
            <a:lvl1pPr algn="l">
              <a:defRPr sz="337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364808" y="2452238"/>
            <a:ext cx="3845052" cy="2069658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92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97631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97631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2197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n-ea"/>
                <a:ea typeface="+mn-ea"/>
                <a:cs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2197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2915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n-ea"/>
                <a:ea typeface="+mn-ea"/>
                <a:cs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270034"/>
            <a:ext cx="8101489" cy="4363403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97631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n-lt"/>
                <a:ea typeface="+mn-lt"/>
                <a:cs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1714" cy="51435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6668262" y="0"/>
            <a:ext cx="2475738" cy="2907792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6947154" y="1042416"/>
            <a:ext cx="2194560" cy="1858518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8037576" y="2866644"/>
            <a:ext cx="1104138" cy="630936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2571750"/>
            <a:ext cx="2441448" cy="2571750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628650" y="342900"/>
            <a:ext cx="7886250" cy="22491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628650" y="2931263"/>
            <a:ext cx="7886250" cy="93042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1" Type="http://schemas.openxmlformats.org/officeDocument/2006/relationships/theme" Target="../theme/theme2.xml"/><Relationship Id="rId20" Type="http://schemas.openxmlformats.org/officeDocument/2006/relationships/tags" Target="../tags/tag80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8453438" y="4329589"/>
            <a:ext cx="688658" cy="81343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8572024" y="4329589"/>
            <a:ext cx="570071" cy="455295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8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8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4" Type="http://schemas.openxmlformats.org/officeDocument/2006/relationships/notesSlide" Target="../notesSlides/notesSlide8.xml"/><Relationship Id="rId23" Type="http://schemas.openxmlformats.org/officeDocument/2006/relationships/slideLayout" Target="../slideLayouts/slideLayout8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6" Type="http://schemas.openxmlformats.org/officeDocument/2006/relationships/notesSlide" Target="../notesSlides/notesSlide10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237.xml"/><Relationship Id="rId23" Type="http://schemas.openxmlformats.org/officeDocument/2006/relationships/tags" Target="../tags/tag236.xml"/><Relationship Id="rId22" Type="http://schemas.openxmlformats.org/officeDocument/2006/relationships/tags" Target="../tags/tag235.xml"/><Relationship Id="rId21" Type="http://schemas.openxmlformats.org/officeDocument/2006/relationships/tags" Target="../tags/tag234.xml"/><Relationship Id="rId20" Type="http://schemas.openxmlformats.org/officeDocument/2006/relationships/tags" Target="../tags/tag233.xml"/><Relationship Id="rId2" Type="http://schemas.openxmlformats.org/officeDocument/2006/relationships/tags" Target="../tags/tag215.xml"/><Relationship Id="rId19" Type="http://schemas.openxmlformats.org/officeDocument/2006/relationships/tags" Target="../tags/tag232.xml"/><Relationship Id="rId18" Type="http://schemas.openxmlformats.org/officeDocument/2006/relationships/tags" Target="../tags/tag231.xml"/><Relationship Id="rId17" Type="http://schemas.openxmlformats.org/officeDocument/2006/relationships/tags" Target="../tags/tag230.xml"/><Relationship Id="rId16" Type="http://schemas.openxmlformats.org/officeDocument/2006/relationships/tags" Target="../tags/tag229.xml"/><Relationship Id="rId15" Type="http://schemas.openxmlformats.org/officeDocument/2006/relationships/tags" Target="../tags/tag228.xml"/><Relationship Id="rId14" Type="http://schemas.openxmlformats.org/officeDocument/2006/relationships/tags" Target="../tags/tag227.xml"/><Relationship Id="rId13" Type="http://schemas.openxmlformats.org/officeDocument/2006/relationships/tags" Target="../tags/tag226.xml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tags" Target="../tags/tag21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8.xml"/><Relationship Id="rId23" Type="http://schemas.openxmlformats.org/officeDocument/2006/relationships/tags" Target="../tags/tag271.xml"/><Relationship Id="rId22" Type="http://schemas.openxmlformats.org/officeDocument/2006/relationships/tags" Target="../tags/tag270.xml"/><Relationship Id="rId21" Type="http://schemas.openxmlformats.org/officeDocument/2006/relationships/tags" Target="../tags/tag269.xml"/><Relationship Id="rId20" Type="http://schemas.openxmlformats.org/officeDocument/2006/relationships/tags" Target="../tags/tag268.xml"/><Relationship Id="rId2" Type="http://schemas.openxmlformats.org/officeDocument/2006/relationships/tags" Target="../tags/tag250.xml"/><Relationship Id="rId19" Type="http://schemas.openxmlformats.org/officeDocument/2006/relationships/tags" Target="../tags/tag267.xml"/><Relationship Id="rId18" Type="http://schemas.openxmlformats.org/officeDocument/2006/relationships/tags" Target="../tags/tag266.xml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4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tags" Target="../tags/tag27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8.xml"/><Relationship Id="rId17" Type="http://schemas.openxmlformats.org/officeDocument/2006/relationships/tags" Target="../tags/tag302.xml"/><Relationship Id="rId16" Type="http://schemas.openxmlformats.org/officeDocument/2006/relationships/tags" Target="../tags/tag301.xml"/><Relationship Id="rId15" Type="http://schemas.openxmlformats.org/officeDocument/2006/relationships/tags" Target="../tags/tag300.xml"/><Relationship Id="rId14" Type="http://schemas.openxmlformats.org/officeDocument/2006/relationships/tags" Target="../tags/tag299.xml"/><Relationship Id="rId13" Type="http://schemas.openxmlformats.org/officeDocument/2006/relationships/tags" Target="../tags/tag298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tags" Target="../tags/tag28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8.xml"/><Relationship Id="rId17" Type="http://schemas.openxmlformats.org/officeDocument/2006/relationships/tags" Target="../tags/tag319.xml"/><Relationship Id="rId16" Type="http://schemas.openxmlformats.org/officeDocument/2006/relationships/tags" Target="../tags/tag318.xml"/><Relationship Id="rId15" Type="http://schemas.openxmlformats.org/officeDocument/2006/relationships/tags" Target="../tags/tag317.xml"/><Relationship Id="rId14" Type="http://schemas.openxmlformats.org/officeDocument/2006/relationships/tags" Target="../tags/tag316.xml"/><Relationship Id="rId13" Type="http://schemas.openxmlformats.org/officeDocument/2006/relationships/tags" Target="../tags/tag315.xml"/><Relationship Id="rId12" Type="http://schemas.openxmlformats.org/officeDocument/2006/relationships/tags" Target="../tags/tag314.xml"/><Relationship Id="rId11" Type="http://schemas.openxmlformats.org/officeDocument/2006/relationships/tags" Target="../tags/tag313.xml"/><Relationship Id="rId10" Type="http://schemas.openxmlformats.org/officeDocument/2006/relationships/tags" Target="../tags/tag312.xml"/><Relationship Id="rId1" Type="http://schemas.openxmlformats.org/officeDocument/2006/relationships/tags" Target="../tags/tag30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8.xml"/><Relationship Id="rId14" Type="http://schemas.openxmlformats.org/officeDocument/2006/relationships/tags" Target="../tags/tag333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42.xml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8.xml"/><Relationship Id="rId10" Type="http://schemas.openxmlformats.org/officeDocument/2006/relationships/tags" Target="../tags/tag343.xml"/><Relationship Id="rId1" Type="http://schemas.openxmlformats.org/officeDocument/2006/relationships/tags" Target="../tags/tag33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52.xml"/><Relationship Id="rId8" Type="http://schemas.openxmlformats.org/officeDocument/2006/relationships/tags" Target="../tags/tag351.xml"/><Relationship Id="rId7" Type="http://schemas.openxmlformats.org/officeDocument/2006/relationships/tags" Target="../tags/tag350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3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"/>
          <p:cNvSpPr/>
          <p:nvPr>
            <p:custDataLst>
              <p:tags r:id="rId1"/>
            </p:custDataLst>
          </p:nvPr>
        </p:nvSpPr>
        <p:spPr>
          <a:xfrm>
            <a:off x="6565392" y="1755648"/>
            <a:ext cx="160020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cs typeface="Aptos Display" pitchFamily="34" charset="-120"/>
              </a:rPr>
              <a:t>PEV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cs typeface="Aptos Display" pitchFamily="34" charset="-120"/>
              </a:rPr>
              <a:t>Agent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cs typeface="Aptos Display" pitchFamily="34" charset="-120"/>
              </a:rPr>
              <a:t>Team</a:t>
            </a:r>
            <a:endParaRPr lang="en-US" sz="2000" b="1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21" name="Text 4"/>
          <p:cNvSpPr/>
          <p:nvPr>
            <p:custDataLst>
              <p:tags r:id="rId2"/>
            </p:custDataLst>
          </p:nvPr>
        </p:nvSpPr>
        <p:spPr>
          <a:xfrm>
            <a:off x="859536" y="221284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cs typeface="微软雅黑" panose="020B0503020204020204" pitchFamily="34" charset="-120"/>
              </a:rPr>
              <a:t>从个人工作流，到 Agent 原理，再到团队实践</a:t>
            </a:r>
            <a:endParaRPr lang="en-US" sz="14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2" name="Text 6"/>
          <p:cNvSpPr/>
          <p:nvPr>
            <p:custDataLst>
              <p:tags r:id="rId3"/>
            </p:custDataLst>
          </p:nvPr>
        </p:nvSpPr>
        <p:spPr>
          <a:xfrm>
            <a:off x="859536" y="3049524"/>
            <a:ext cx="10789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团队分享</a:t>
            </a:r>
            <a:endParaRPr lang="en-US" sz="9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3" name="Text 7"/>
          <p:cNvSpPr/>
          <p:nvPr>
            <p:custDataLst>
              <p:tags r:id="rId4"/>
            </p:custDataLst>
          </p:nvPr>
        </p:nvSpPr>
        <p:spPr>
          <a:xfrm>
            <a:off x="859536" y="380390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分享人：XXX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面向：产品 / 前端 / 后端 / 测试 / 设计 / 技术负责人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8" name="标题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4050" dirty="0"/>
              <a:t>AI</a:t>
            </a:r>
            <a:endParaRPr lang="en-US" sz="4050" dirty="0"/>
          </a:p>
        </p:txBody>
      </p:sp>
      <p:sp>
        <p:nvSpPr>
          <p:cNvPr id="19" name="署名"/>
          <p:cNvSpPr>
            <a:spLocks noGrp="1"/>
          </p:cNvSpPr>
          <p:nvPr>
            <p:ph type="body" sz="quarter" idx="17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altLang="zh-CN"/>
              <a:t>汇报人：WPS</a:t>
            </a:r>
            <a:endParaRPr lang="en-US" altLang="zh-CN"/>
          </a:p>
        </p:txBody>
      </p:sp>
      <p:sp>
        <p:nvSpPr>
          <p:cNvPr id="15" name="标题 11"/>
          <p:cNvSpPr>
            <a:spLocks noGrp="1"/>
          </p:cNvSpPr>
          <p:nvPr/>
        </p:nvSpPr>
        <p:spPr>
          <a:xfrm>
            <a:off x="822960" y="932688"/>
            <a:ext cx="5212080" cy="107899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3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  <a:ea typeface="+mj-ea"/>
                <a:cs typeface="微软雅黑" panose="020B0503020204020204" pitchFamily="34" charset="-120"/>
              </a:defRPr>
            </a:lvl1pPr>
          </a:lstStyle>
          <a:p>
            <a:pPr algn="l">
              <a:buNone/>
            </a:pPr>
            <a:r>
              <a:rPr altLang="en-US">
                <a:solidFill>
                  <a:schemeClr val="tx1"/>
                </a:solidFill>
                <a:cs typeface="微软雅黑" panose="020B0503020204020204" pitchFamily="34" charset="-122"/>
              </a:rPr>
              <a:t>AI 是如何在前端开发流程中应用的</a:t>
            </a:r>
            <a:endParaRPr altLang="en-US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  <p:sp>
        <p:nvSpPr>
          <p:cNvPr id="16" name="副标题 15"/>
          <p:cNvSpPr>
            <a:spLocks noGrp="1"/>
          </p:cNvSpPr>
          <p:nvPr>
            <p:ph type="subTitle" idx="14"/>
          </p:nvPr>
        </p:nvSpPr>
        <p:spPr>
          <a:xfrm>
            <a:off x="6565392" y="1755648"/>
            <a:ext cx="1600200" cy="1005840"/>
          </a:xfrm>
        </p:spPr>
        <p:txBody>
          <a:bodyPr/>
          <a:p>
            <a:pPr algn="ctr">
              <a:buNone/>
            </a:pPr>
            <a:r>
              <a:rPr altLang="en-US"/>
              <a:t>PEV</a:t>
            </a:r>
            <a:endParaRPr altLang="en-US"/>
          </a:p>
        </p:txBody>
      </p:sp>
      <p:sp>
        <p:nvSpPr>
          <p:cNvPr id="17" name="文本占位符 13"/>
          <p:cNvSpPr>
            <a:spLocks noGrp="1"/>
          </p:cNvSpPr>
          <p:nvPr/>
        </p:nvSpPr>
        <p:spPr>
          <a:xfrm>
            <a:off x="859536" y="3803904"/>
            <a:ext cx="5029200" cy="43891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sz="1050" b="0" i="0" u="none" strike="noStrike" kern="1200" cap="none" spc="0" normalizeH="0" baseline="0" noProof="1" dirty="0">
                <a:solidFill>
                  <a:srgbClr val="CCCCCC"/>
                </a:solidFill>
                <a:uFillTx/>
                <a:latin typeface="+mn-lt"/>
                <a:ea typeface="+mn-ea"/>
                <a:cs typeface="微软雅黑" panose="020B0503020204020204" pitchFamily="34" charset="-120"/>
              </a:defRPr>
            </a:lvl1pPr>
            <a:lvl2pPr marL="45720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914400" lvl="2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lvl="3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lvl="4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altLang="en-US">
                <a:solidFill>
                  <a:schemeClr val="tx1"/>
                </a:solidFill>
                <a:cs typeface="微软雅黑" panose="020B0503020204020204" pitchFamily="34" charset="-122"/>
              </a:rPr>
              <a:t>分享人：</a:t>
            </a:r>
            <a:r>
              <a:rPr altLang="zh-CN">
                <a:solidFill>
                  <a:schemeClr val="tx1"/>
                </a:solidFill>
                <a:cs typeface="微软雅黑" panose="020B0503020204020204" pitchFamily="34" charset="-122"/>
              </a:rPr>
              <a:t>XXX</a:t>
            </a:r>
            <a:endParaRPr altLang="zh-CN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Overview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353312"/>
            <a:ext cx="7040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从怎么用，到为什么能这样用，再到团队怎么放大价值。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914400" y="1828800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AI 不是替你做判断，而是把执行这件事放大了。</a:t>
            </a:r>
            <a:endParaRPr lang="en-US" sz="170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3232" y="2615184"/>
            <a:ext cx="1591056" cy="9875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914400" y="277977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01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914400" y="29718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工作流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914400" y="323697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tx1"/>
                </a:solidFill>
                <a:cs typeface="微软雅黑" panose="020B0503020204020204" pitchFamily="34" charset="-120"/>
              </a:rPr>
              <a:t>怎么稳定使用</a:t>
            </a:r>
            <a:endParaRPr lang="en-US" sz="78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97480" y="2615184"/>
            <a:ext cx="1591056" cy="9875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2898648" y="277977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02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2898648" y="29718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Agent 原理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2898648" y="323697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tx1"/>
                </a:solidFill>
                <a:cs typeface="微软雅黑" panose="020B0503020204020204" pitchFamily="34" charset="-120"/>
              </a:rPr>
              <a:t>为什么能行动</a:t>
            </a:r>
            <a:endParaRPr lang="en-US" sz="78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81728" y="2615184"/>
            <a:ext cx="1591056" cy="9875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882896" y="277977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03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882896" y="29718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学习方法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882896" y="323697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tx1"/>
                </a:solidFill>
                <a:cs typeface="微软雅黑" panose="020B0503020204020204" pitchFamily="34" charset="-120"/>
              </a:rPr>
              <a:t>如何持续跟进</a:t>
            </a:r>
            <a:endParaRPr lang="en-US" sz="78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65976" y="2615184"/>
            <a:ext cx="1591056" cy="9875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6867144" y="277977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04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6867144" y="29718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团队实践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6867144" y="323697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chemeClr val="tx1"/>
                </a:solidFill>
                <a:cs typeface="微软雅黑" panose="020B0503020204020204" pitchFamily="34" charset="-120"/>
              </a:rPr>
              <a:t>怎么团队落地</a:t>
            </a:r>
            <a:endParaRPr lang="en-US" sz="78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19"/>
            </p:custDataLst>
          </p:nvPr>
        </p:nvSpPr>
        <p:spPr>
          <a:xfrm>
            <a:off x="1051560" y="4224528"/>
            <a:ext cx="7040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cs typeface="微软雅黑" panose="020B0503020204020204" pitchFamily="34" charset="-120"/>
              </a:rPr>
              <a:t>从怎么用，到为什么能这样用，再到团队怎么放大价值。</a:t>
            </a:r>
            <a:endParaRPr lang="en-US" sz="11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6" name="标题 25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这场分享的主线</a:t>
            </a:r>
            <a:endParaRPr lang="zh-CN" altLang="en-US" dirty="0"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01 / WORKFLOW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cs typeface="微软雅黑" panose="020B0503020204020204" pitchFamily="34" charset="-120"/>
              </a:rPr>
              <a:t>很多时候，问题不是 AI 完全不会做，而是它很容易做得“像对的一样”。</a:t>
            </a:r>
            <a:endParaRPr lang="en-US" sz="14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50976" y="2048256"/>
            <a:ext cx="309067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自信地写错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950976" y="2340864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chemeClr val="tx1"/>
                </a:solidFill>
                <a:cs typeface="微软雅黑" panose="020B0503020204020204" pitchFamily="34" charset="-120"/>
              </a:rPr>
              <a:t>看起来很完整，但关键细节可能是错的。</a:t>
            </a:r>
            <a:endParaRPr lang="en-US" sz="94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2744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928616" y="2048256"/>
            <a:ext cx="309067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重复造轮子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928616" y="2340864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chemeClr val="tx1"/>
                </a:solidFill>
                <a:cs typeface="微软雅黑" panose="020B0503020204020204" pitchFamily="34" charset="-120"/>
              </a:rPr>
              <a:t>没有读到项目里已经存在的能力。</a:t>
            </a:r>
            <a:endParaRPr lang="en-US" sz="94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980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950976" y="3127248"/>
            <a:ext cx="309067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漏看上下文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950976" y="3419856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chemeClr val="tx1"/>
                </a:solidFill>
                <a:cs typeface="微软雅黑" panose="020B0503020204020204" pitchFamily="34" charset="-120"/>
              </a:rPr>
              <a:t>只改眼前文件，遗漏连带影响。</a:t>
            </a:r>
            <a:endParaRPr lang="en-US" sz="94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2744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4928616" y="3127248"/>
            <a:ext cx="309067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能跑，但难维护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4928616" y="3419856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chemeClr val="tx1"/>
                </a:solidFill>
                <a:cs typeface="微软雅黑" panose="020B0503020204020204" pitchFamily="34" charset="-120"/>
              </a:rPr>
              <a:t>短期通过，长期给团队留下维护成本。</a:t>
            </a:r>
            <a:endParaRPr lang="en-US" sz="94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所以我们需要一套流程，不是为了拖慢 AI，而是为了把风险控制住。</a:t>
            </a:r>
            <a:endParaRPr lang="en-US" sz="108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为什么不能一上来就让</a:t>
            </a:r>
            <a:r>
              <a:rPr lang="zh-CN" altLang="en-US" dirty="0">
                <a:sym typeface="+mn-ea"/>
              </a:rPr>
              <a:t> AI </a:t>
            </a:r>
            <a:r>
              <a:rPr lang="zh-CN" altLang="en-US" dirty="0">
                <a:sym typeface="+mn-ea"/>
              </a:rPr>
              <a:t>直接写？</a:t>
            </a:r>
            <a:endParaRPr lang="zh-CN" altLang="en-US" dirty="0"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01 / PEV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cs typeface="微软雅黑" panose="020B0503020204020204" pitchFamily="34" charset="-120"/>
              </a:rPr>
              <a:t>先想清楚，再让它做，最后认真验。</a:t>
            </a:r>
            <a:endParaRPr lang="en-US" sz="14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25000"/>
          </a:bodyPr>
          <a:lstStyle/>
          <a:p>
            <a:pPr marL="0" indent="0" algn="l">
              <a:buNone/>
            </a:pPr>
            <a:r>
              <a:rPr lang="en-US" sz="6400" b="1" dirty="0">
                <a:solidFill>
                  <a:schemeClr val="bg1"/>
                </a:solidFill>
                <a:cs typeface="微软雅黑" panose="020B0503020204020204" pitchFamily="34" charset="-120"/>
              </a:rPr>
              <a:t>Plan</a:t>
            </a:r>
            <a:endParaRPr lang="en-US" sz="80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cs typeface="微软雅黑" panose="020B0503020204020204" pitchFamily="34" charset="-120"/>
              </a:rPr>
              <a:t>计划</a:t>
            </a:r>
            <a:endParaRPr lang="en-US" sz="4000" b="1" dirty="0">
              <a:solidFill>
                <a:schemeClr val="bg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25000"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5600" b="1" dirty="0">
                <a:solidFill>
                  <a:schemeClr val="bg1"/>
                </a:solidFill>
                <a:cs typeface="微软雅黑" panose="020B0503020204020204" pitchFamily="34" charset="-120"/>
              </a:rPr>
              <a:t>Execute</a:t>
            </a:r>
            <a:endParaRPr lang="en-US" sz="8000" b="1" dirty="0">
              <a:solidFill>
                <a:schemeClr val="bg1"/>
              </a:solidFill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cs typeface="微软雅黑" panose="020B0503020204020204" pitchFamily="34" charset="-120"/>
              </a:rPr>
              <a:t>执行</a:t>
            </a:r>
            <a:endParaRPr lang="en-US" sz="4000" b="1" dirty="0">
              <a:solidFill>
                <a:schemeClr val="bg1"/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25000"/>
          </a:bodyPr>
          <a:lstStyle/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cs typeface="微软雅黑" panose="020B0503020204020204" pitchFamily="34" charset="-120"/>
              </a:rPr>
              <a:t>Verify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cs typeface="微软雅黑" panose="020B0503020204020204" pitchFamily="34" charset="-120"/>
              </a:rPr>
              <a:t>验证</a:t>
            </a:r>
            <a:endParaRPr lang="en-US" sz="4000" b="1" dirty="0">
              <a:solidFill>
                <a:schemeClr val="bg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cs typeface="微软雅黑" panose="020B0503020204020204" pitchFamily="34" charset="-120"/>
              </a:rPr>
              <a:t>先想清楚，再让它做，最后认真验。人做决策，AI 做执行。</a:t>
            </a:r>
            <a:endParaRPr lang="en-US" sz="16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cs typeface="微软雅黑" panose="020B0503020204020204" pitchFamily="34" charset="-120"/>
              </a:rPr>
              <a:t>人做决策，AI 做执行。</a:t>
            </a:r>
            <a:endParaRPr lang="en-US" sz="11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PEV 工作流</a:t>
            </a:r>
            <a:endParaRPr lang="zh-CN" altLang="en-US" dirty="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01 / PLAN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chemeClr val="tx1"/>
                </a:solidFill>
                <a:cs typeface="微软雅黑" panose="020B0503020204020204" pitchFamily="34" charset="-120"/>
              </a:rPr>
              <a:t>先看清方向，再让 AI 动手。</a:t>
            </a:r>
            <a:endParaRPr lang="en-US" sz="10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14400" y="1920240"/>
            <a:ext cx="3300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INPUT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914400" y="2148840"/>
            <a:ext cx="33009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先给 Agent 三样东西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914400" y="2432304"/>
            <a:ext cx="3300984" cy="1024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需求描述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PRD 原文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约束条件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18304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919472" y="1920240"/>
            <a:ext cx="3300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OUTPUT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919472" y="2148840"/>
            <a:ext cx="33009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Agent 输出实现计划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4919472" y="2432304"/>
            <a:ext cx="3300984" cy="1024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任务拆解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关键文件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架构权衡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实施步骤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914400" y="4187952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先看清方向，再让 AI 动手。</a:t>
            </a:r>
            <a:endParaRPr lang="en-US" sz="112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PLAN：先出计划，不先写代码</a:t>
            </a:r>
            <a:endParaRPr lang="zh-CN" altLang="en-US" dirty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01 / APPROVE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cs typeface="微软雅黑" panose="020B0503020204020204" pitchFamily="34" charset="-120"/>
              </a:rPr>
              <a:t>先把方案看对、想全、调顺，再让 AI 开始写代码。</a:t>
            </a:r>
            <a:endParaRPr lang="en-US" sz="14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960120" y="1956816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cs typeface="Aptos Display" pitchFamily="34" charset="-120"/>
              </a:rPr>
              <a:t>01</a:t>
            </a:r>
            <a:endParaRPr lang="en-US" sz="1500" b="1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554480" y="188366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先审查计划</a:t>
            </a:r>
            <a:endParaRPr lang="en-US" sz="135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3364992" y="1874520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步骤是否合理</a:t>
            </a:r>
            <a:endParaRPr lang="en-US" sz="950" dirty="0">
              <a:solidFill>
                <a:schemeClr val="tx1"/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场景是否遗漏</a:t>
            </a:r>
            <a:endParaRPr lang="en-US" sz="950" dirty="0">
              <a:solidFill>
                <a:schemeClr val="tx1"/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范围是否清楚</a:t>
            </a:r>
            <a:endParaRPr lang="en-US" sz="9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60120" y="2706624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cs typeface="Aptos Display" pitchFamily="34" charset="-120"/>
              </a:rPr>
              <a:t>02</a:t>
            </a:r>
            <a:endParaRPr lang="en-US" sz="1500" b="1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1554480" y="263347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再给反馈</a:t>
            </a:r>
            <a:endParaRPr lang="en-US" sz="135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3364992" y="2624328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提出疑问</a:t>
            </a:r>
            <a:endParaRPr lang="en-US" sz="95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调整方案</a:t>
            </a:r>
            <a:endParaRPr lang="en-US" sz="95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补充需求</a:t>
            </a:r>
            <a:endParaRPr lang="en-US" sz="9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960120" y="345643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cs typeface="Aptos Display" pitchFamily="34" charset="-120"/>
              </a:rPr>
              <a:t>03</a:t>
            </a:r>
            <a:endParaRPr lang="en-US" sz="1500" b="1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1554480" y="33832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最后放行执行</a:t>
            </a:r>
            <a:endParaRPr lang="en-US" sz="135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3364992" y="3374136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AI 开始写代码</a:t>
            </a:r>
            <a:endParaRPr lang="en-US" sz="95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按规则执行</a:t>
            </a:r>
            <a:endParaRPr lang="en-US" sz="95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/>
                </a:solidFill>
                <a:cs typeface="微软雅黑" panose="020B0503020204020204" pitchFamily="34" charset="-120"/>
              </a:rPr>
              <a:t>写完补测试并跑校验</a:t>
            </a:r>
            <a:endParaRPr lang="en-US" sz="9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914400" y="4160520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先把方案看对、想全、调顺，再放行执行。</a:t>
            </a:r>
            <a:endParaRPr lang="en-US" sz="135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确认方案后，再放行执行</a:t>
            </a:r>
            <a:endParaRPr lang="zh-CN" altLang="en-US" dirty="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01 / VERIFY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chemeClr val="tx1"/>
                </a:solidFill>
                <a:cs typeface="微软雅黑" panose="020B0503020204020204" pitchFamily="34" charset="-120"/>
              </a:rPr>
              <a:t>AI 加快的是产出速度，人负责最后的质量把关。</a:t>
            </a:r>
            <a:endParaRPr lang="en-US" sz="10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14400" y="1920240"/>
            <a:ext cx="3300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CODE REVIEW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914400" y="2148840"/>
            <a:ext cx="33009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Code Review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914400" y="2432304"/>
            <a:ext cx="3300984" cy="1024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风格和架构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重复逻辑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安全隐患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类型严谨性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18304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919472" y="1920240"/>
            <a:ext cx="3300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SELF CHECK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919472" y="2148840"/>
            <a:ext cx="33009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功能自测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4919472" y="2432304"/>
            <a:ext cx="3300984" cy="1024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流程完整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交互流畅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错误提示</a:t>
            </a:r>
            <a:endParaRPr lang="en-US" sz="105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响应式布局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914400" y="4187952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AI 加快的是产出速度，人负责最后的质量把关。</a:t>
            </a:r>
            <a:endParaRPr lang="en-US" sz="112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人做最后的质量把关</a:t>
            </a:r>
            <a:endParaRPr lang="zh-CN" altLang="en-US" dirty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01 / BUG LOOP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cs typeface="微软雅黑" panose="020B0503020204020204" pitchFamily="34" charset="-120"/>
              </a:rPr>
              <a:t>先复现，再修复；修 Bug 不靠感觉，靠可重复验证的闭环。</a:t>
            </a:r>
            <a:endParaRPr lang="en-US" sz="14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42062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621792" y="2231136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发现 Bug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1810512" y="2340864"/>
            <a:ext cx="30175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215798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2359152" y="2231136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2">
                    <a:lumMod val="50000"/>
                    <a:hueOff val="10800000"/>
                  </a:schemeClr>
                </a:solidFill>
                <a:cs typeface="微软雅黑" panose="020B0503020204020204" pitchFamily="34" charset="-120"/>
              </a:rPr>
              <a:t>写失败测试</a:t>
            </a:r>
            <a:endParaRPr lang="en-US" sz="1040" b="1" dirty="0">
              <a:solidFill>
                <a:schemeClr val="accent2">
                  <a:lumMod val="50000"/>
                  <a:hueOff val="1080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3547872" y="2340864"/>
            <a:ext cx="30175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389534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4096512" y="2231136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修代码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5285232" y="2340864"/>
            <a:ext cx="30175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hape 15"/>
          <p:cNvSpPr/>
          <p:nvPr>
            <p:custDataLst>
              <p:tags r:id="rId15"/>
            </p:custDataLst>
          </p:nvPr>
        </p:nvSpPr>
        <p:spPr>
          <a:xfrm>
            <a:off x="563270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5833872" y="2231136"/>
            <a:ext cx="950976" cy="16459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2">
                    <a:lumMod val="50000"/>
                    <a:hueOff val="10800000"/>
                  </a:schemeClr>
                </a:solidFill>
                <a:cs typeface="微软雅黑" panose="020B0503020204020204" pitchFamily="34" charset="-120"/>
              </a:rPr>
              <a:t>测试通过</a:t>
            </a:r>
            <a:endParaRPr lang="en-US" sz="1040" b="1" dirty="0">
              <a:solidFill>
                <a:schemeClr val="accent2">
                  <a:lumMod val="50000"/>
                  <a:hueOff val="1080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7"/>
            </p:custDataLst>
          </p:nvPr>
        </p:nvSpPr>
        <p:spPr>
          <a:xfrm>
            <a:off x="7022592" y="2340864"/>
            <a:ext cx="30175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8"/>
          <p:cNvSpPr/>
          <p:nvPr>
            <p:custDataLst>
              <p:tags r:id="rId18"/>
            </p:custDataLst>
          </p:nvPr>
        </p:nvSpPr>
        <p:spPr>
          <a:xfrm>
            <a:off x="737006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9"/>
            </p:custDataLst>
          </p:nvPr>
        </p:nvSpPr>
        <p:spPr>
          <a:xfrm>
            <a:off x="7571232" y="2231136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回到 Verify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先复现，再修复。修 Bug 不靠感觉，靠可重复验证的闭环。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23" name="标题 22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发现</a:t>
            </a:r>
            <a:r>
              <a:rPr lang="zh-CN" altLang="en-US" dirty="0">
                <a:sym typeface="+mn-ea"/>
              </a:rPr>
              <a:t> Bug </a:t>
            </a:r>
            <a:r>
              <a:rPr lang="zh-CN" altLang="en-US" dirty="0">
                <a:sym typeface="+mn-ea"/>
              </a:rPr>
              <a:t>后，不是直接修，而是先写红测</a:t>
            </a:r>
            <a:endParaRPr lang="zh-CN" altLang="en-US" dirty="0"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"/>
          <p:cNvSpPr/>
          <p:nvPr>
            <p:custDataLst>
              <p:tags r:id="rId1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Aptos Display" pitchFamily="34" charset="-120"/>
              </a:rPr>
              <a:t>Overview</a:t>
            </a:r>
            <a:endParaRPr lang="en-US" sz="9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17" name="Text 8"/>
          <p:cNvSpPr/>
          <p:nvPr>
            <p:custDataLst>
              <p:tags r:id="rId2"/>
            </p:custDataLst>
          </p:nvPr>
        </p:nvSpPr>
        <p:spPr>
          <a:xfrm>
            <a:off x="3886200" y="3415284"/>
            <a:ext cx="137160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cs typeface="微软雅黑" panose="020B0503020204020204" pitchFamily="34" charset="-120"/>
              </a:rPr>
              <a:t>查天气示例</a:t>
            </a:r>
            <a:endParaRPr lang="en-US" sz="950" dirty="0">
              <a:solidFill>
                <a:schemeClr val="bg1"/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3380" dirty="0"/>
              <a:t>AI Frontend Sharing</a:t>
            </a:r>
            <a:endParaRPr lang="en-US" sz="3380" dirty="0"/>
          </a:p>
        </p:txBody>
      </p:sp>
      <p:sp>
        <p:nvSpPr>
          <p:cNvPr id="15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02 / LOOP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225296"/>
            <a:ext cx="704088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chemeClr val="tx1"/>
                </a:solidFill>
                <a:cs typeface="微软雅黑" panose="020B0503020204020204" pitchFamily="34" charset="-120"/>
              </a:rPr>
              <a:t>左边看 TS 伪代码，右边看一轮循环。</a:t>
            </a:r>
            <a:endParaRPr lang="en-US" sz="102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658368" y="1773936"/>
            <a:ext cx="4069080" cy="2322576"/>
          </a:xfrm>
          <a:prstGeom prst="roundRect">
            <a:avLst>
              <a:gd name="adj" fmla="val 3937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822960" y="1920240"/>
            <a:ext cx="3739896" cy="20299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while (!taskComplete) {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  const response = LLM(messages, tools); // 判断下一步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  if (response.toolCalls) {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    const results = executeTools(response.toolCalls); // 执行工具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    messages.push(...results); // 结果回到上下文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  } else {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    return response.content; // 输出最终答案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  }</a:t>
            </a:r>
            <a:endParaRPr lang="en-US" sz="800" dirty="0">
              <a:solidFill>
                <a:schemeClr val="tx1"/>
              </a:solidFill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800" dirty="0">
                <a:solidFill>
                  <a:schemeClr val="tx1"/>
                </a:solidFill>
                <a:cs typeface="Consolas" panose="020B0609020204030204" pitchFamily="34" charset="-120"/>
              </a:rPr>
              <a:t>}</a:t>
            </a:r>
            <a:endParaRPr lang="en-US" sz="800" dirty="0">
              <a:solidFill>
                <a:schemeClr val="tx1"/>
              </a:solidFill>
              <a:cs typeface="Consolas" panose="020B060902020403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5074920" y="1773936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5276088" y="1920240"/>
            <a:ext cx="23865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读取当前上下文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5074920" y="2377440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5276088" y="2523744"/>
            <a:ext cx="23865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调用 LLM 判断下一步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5074920" y="2980944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5276088" y="3127248"/>
            <a:ext cx="23865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是否需要调用工具？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5074920" y="3621024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5276088" y="3767328"/>
            <a:ext cx="1014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执行工具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6"/>
            </p:custDataLst>
          </p:nvPr>
        </p:nvSpPr>
        <p:spPr>
          <a:xfrm>
            <a:off x="6446520" y="3621024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7"/>
            </p:custDataLst>
          </p:nvPr>
        </p:nvSpPr>
        <p:spPr>
          <a:xfrm>
            <a:off x="6647688" y="3767328"/>
            <a:ext cx="1014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返回结果</a:t>
            </a:r>
            <a:endParaRPr lang="en-US" sz="104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8"/>
            </p:custDataLst>
          </p:nvPr>
        </p:nvSpPr>
        <p:spPr>
          <a:xfrm>
            <a:off x="6446520" y="2212848"/>
            <a:ext cx="0" cy="146304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9"/>
          <p:cNvSpPr/>
          <p:nvPr>
            <p:custDataLst>
              <p:tags r:id="rId19"/>
            </p:custDataLst>
          </p:nvPr>
        </p:nvSpPr>
        <p:spPr>
          <a:xfrm>
            <a:off x="6446520" y="2816352"/>
            <a:ext cx="0" cy="146304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20"/>
          <p:cNvSpPr/>
          <p:nvPr>
            <p:custDataLst>
              <p:tags r:id="rId20"/>
            </p:custDataLst>
          </p:nvPr>
        </p:nvSpPr>
        <p:spPr>
          <a:xfrm>
            <a:off x="5779008" y="3419856"/>
            <a:ext cx="210312" cy="18288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>
            <p:custDataLst>
              <p:tags r:id="rId21"/>
            </p:custDataLst>
          </p:nvPr>
        </p:nvSpPr>
        <p:spPr>
          <a:xfrm>
            <a:off x="6903720" y="3419856"/>
            <a:ext cx="210312" cy="18288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22"/>
          <p:cNvSpPr/>
          <p:nvPr>
            <p:custDataLst>
              <p:tags r:id="rId22"/>
            </p:custDataLst>
          </p:nvPr>
        </p:nvSpPr>
        <p:spPr>
          <a:xfrm>
            <a:off x="868680" y="4297680"/>
            <a:ext cx="74066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1"/>
                </a:solidFill>
                <a:cs typeface="微软雅黑" panose="020B0503020204020204" pitchFamily="34" charset="-120"/>
              </a:rPr>
              <a:t>Agent 不是一次性把答案想完，而是带着最新上下文一轮轮继续判断和执行。</a:t>
            </a:r>
            <a:endParaRPr lang="en-US" sz="9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Agent 是怎么一轮轮工作的？</a:t>
            </a:r>
            <a:endParaRPr lang="zh-CN" altLang="en-US" dirty="0"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02 / MESSAGES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371600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chemeClr val="tx1"/>
                </a:solidFill>
                <a:cs typeface="微软雅黑" panose="020B0503020204020204" pitchFamily="34" charset="-120"/>
              </a:rPr>
              <a:t>下一轮不是重新开始，而是把上一轮发生过的事继续带进去。</a:t>
            </a:r>
            <a:endParaRPr lang="en-US" sz="122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0624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chemeClr val="accent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85216" y="1719072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第一次传给 LLM</a:t>
            </a: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- system:</a:t>
            </a: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  你是一个 agent，需要优先使用工具获取实时信息。</a:t>
            </a: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- user:</a:t>
            </a: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  帮我查一下杭州今天的天气。</a:t>
            </a:r>
            <a:endParaRPr lang="en-US" sz="690" dirty="0">
              <a:solidFill>
                <a:schemeClr val="lt1"/>
              </a:solidFill>
              <a:cs typeface="Consolas" panose="020B0609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36976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chemeClr val="accent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3401568" y="1719072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LLM 返回</a:t>
            </a: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- tool call:</a:t>
            </a: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  name: "getWeather"</a:t>
            </a:r>
            <a:endParaRPr lang="en-US" sz="69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lt1"/>
                </a:solidFill>
                <a:cs typeface="Consolas" panose="020B0609020204030204" pitchFamily="34" charset="-120"/>
              </a:rPr>
              <a:t>  arguments: { city: "杭州" }</a:t>
            </a:r>
            <a:endParaRPr lang="en-US" sz="690" dirty="0">
              <a:solidFill>
                <a:schemeClr val="lt1"/>
              </a:solidFill>
              <a:cs typeface="Consolas" panose="020B0609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53328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chemeClr val="accent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6217920" y="1719072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第二次传给 LLM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- system: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  你是一个 agent，需要优先使用工具获取实时信息。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- user: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  帮我查一下杭州今天的天气。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- assistant: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  调用工具 getWeather({ city: "杭州" })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- tool:</a:t>
            </a:r>
            <a:endParaRPr lang="en-US" sz="62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620" dirty="0">
                <a:solidFill>
                  <a:schemeClr val="lt1"/>
                </a:solidFill>
                <a:cs typeface="Consolas" panose="020B0609020204030204" pitchFamily="34" charset="-120"/>
              </a:rPr>
              <a:t>  杭州，晴，25°C，东北风 2 级。</a:t>
            </a:r>
            <a:endParaRPr lang="en-US" sz="620" dirty="0">
              <a:solidFill>
                <a:schemeClr val="lt1"/>
              </a:solidFill>
              <a:cs typeface="Consolas" panose="020B0609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914400" y="4462272"/>
            <a:ext cx="731520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chemeClr val="tx1"/>
                </a:solidFill>
                <a:cs typeface="微软雅黑" panose="020B0503020204020204" pitchFamily="34" charset="-120"/>
              </a:rPr>
              <a:t>下一轮会把上一轮的 tool call 和工具结果一起带回给 LLM。</a:t>
            </a:r>
            <a:endParaRPr lang="en-US" sz="88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messages 为什么会越来越长？</a:t>
            </a:r>
            <a:endParaRPr lang="zh-CN" altLang="en-US" dirty="0"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02 / TOOLS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chemeClr val="tx1"/>
                </a:solidFill>
                <a:cs typeface="微软雅黑" panose="020B0503020204020204" pitchFamily="34" charset="-120"/>
              </a:rPr>
              <a:t>LLM 负责决定“调用什么”，外层程序负责真正“把事情做完”。</a:t>
            </a:r>
            <a:endParaRPr lang="en-US" sz="102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566928" y="1783080"/>
            <a:ext cx="4114800" cy="2267712"/>
          </a:xfrm>
          <a:prstGeom prst="roundRect">
            <a:avLst>
              <a:gd name="adj" fmla="val 4032"/>
            </a:avLst>
          </a:prstGeom>
          <a:solidFill>
            <a:schemeClr val="accent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731520" y="1929384"/>
            <a:ext cx="3785616" cy="19751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const tools = {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  getWeather: {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    description: "查询指定城市的实时天气",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    execute: ({ city }) =&gt; {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      return `${city}，晴，25°C，东北风 2 级`;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    }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  }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};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const call = { name: "getWeather", args: { city: "杭州" } };</a:t>
            </a:r>
            <a:endParaRPr lang="en-US" sz="69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9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cs typeface="Consolas" panose="020B0609020204030204" pitchFamily="34" charset="-120"/>
              </a:rPr>
              <a:t>const result = tools[call.name].execute(call.args);</a:t>
            </a:r>
            <a:endParaRPr lang="en-US" sz="69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cs typeface="Consolas" panose="020B060902020403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4983480" y="1783080"/>
            <a:ext cx="3520440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5184648" y="1947672"/>
            <a:ext cx="31181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MENU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5184648" y="2176272"/>
            <a:ext cx="311810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tools 是一张菜单</a:t>
            </a:r>
            <a:endParaRPr lang="en-US" sz="130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5230368" y="2432304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chemeClr val="accent1">
                    <a:lumMod val="50000"/>
                  </a:schemeClr>
                </a:solidFill>
                <a:cs typeface="Consolas" panose="020B0609020204030204" pitchFamily="34" charset="-120"/>
              </a:rPr>
              <a:t>tools</a:t>
            </a:r>
            <a:endParaRPr lang="en-US" sz="860" b="1" dirty="0">
              <a:solidFill>
                <a:schemeClr val="accent1">
                  <a:lumMod val="50000"/>
                </a:schemeClr>
              </a:solidFill>
              <a:cs typeface="Consolas" panose="020B0609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6144768" y="2432304"/>
            <a:ext cx="19933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菜单上有哪些服务可以点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5230368" y="2724912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chemeClr val="accent1">
                    <a:lumMod val="50000"/>
                  </a:schemeClr>
                </a:solidFill>
                <a:cs typeface="Consolas" panose="020B0609020204030204" pitchFamily="34" charset="-120"/>
              </a:rPr>
              <a:t>name</a:t>
            </a:r>
            <a:endParaRPr lang="en-US" sz="860" b="1" dirty="0">
              <a:solidFill>
                <a:schemeClr val="accent1">
                  <a:lumMod val="50000"/>
                </a:schemeClr>
              </a:solidFill>
              <a:cs typeface="Consolas" panose="020B060902020403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6144768" y="2724912"/>
            <a:ext cx="19933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点的是哪一项服务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5230368" y="3017520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chemeClr val="accent1">
                    <a:lumMod val="50000"/>
                  </a:schemeClr>
                </a:solidFill>
                <a:cs typeface="Consolas" panose="020B0609020204030204" pitchFamily="34" charset="-120"/>
              </a:rPr>
              <a:t>args</a:t>
            </a:r>
            <a:endParaRPr lang="en-US" sz="860" b="1" dirty="0">
              <a:solidFill>
                <a:schemeClr val="accent1">
                  <a:lumMod val="50000"/>
                </a:schemeClr>
              </a:solidFill>
              <a:cs typeface="Consolas" panose="020B0609020204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6144768" y="3017520"/>
            <a:ext cx="19933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这次具体要什么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7"/>
            </p:custDataLst>
          </p:nvPr>
        </p:nvSpPr>
        <p:spPr>
          <a:xfrm>
            <a:off x="5230368" y="3310128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chemeClr val="accent1">
                    <a:lumMod val="50000"/>
                  </a:schemeClr>
                </a:solidFill>
                <a:cs typeface="Consolas" panose="020B0609020204030204" pitchFamily="34" charset="-120"/>
              </a:rPr>
              <a:t>execute()</a:t>
            </a:r>
            <a:endParaRPr lang="en-US" sz="860" b="1" dirty="0">
              <a:solidFill>
                <a:schemeClr val="accent1">
                  <a:lumMod val="50000"/>
                </a:schemeClr>
              </a:solidFill>
              <a:cs typeface="Consolas" panose="020B060902020403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6144768" y="3310128"/>
            <a:ext cx="19933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后台真正完成服务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9"/>
            </p:custDataLst>
          </p:nvPr>
        </p:nvSpPr>
        <p:spPr>
          <a:xfrm>
            <a:off x="5230368" y="3602736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chemeClr val="accent1">
                    <a:lumMod val="50000"/>
                  </a:schemeClr>
                </a:solidFill>
                <a:cs typeface="Consolas" panose="020B0609020204030204" pitchFamily="34" charset="-120"/>
              </a:rPr>
              <a:t>result</a:t>
            </a:r>
            <a:endParaRPr lang="en-US" sz="860" b="1" dirty="0">
              <a:solidFill>
                <a:schemeClr val="accent1">
                  <a:lumMod val="50000"/>
                </a:schemeClr>
              </a:solidFill>
              <a:cs typeface="Consolas" panose="020B0609020204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6144768" y="3602736"/>
            <a:ext cx="1993392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最后返回给模型的结果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21"/>
            </p:custDataLst>
          </p:nvPr>
        </p:nvSpPr>
        <p:spPr>
          <a:xfrm>
            <a:off x="1005840" y="4279392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LLM 更像是在下单，不是在亲自做事。</a:t>
            </a:r>
            <a:endParaRPr lang="en-US" sz="98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24" name="标题 23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LLM 为什么不只是会回答，还能调用工具？</a:t>
            </a:r>
            <a:endParaRPr lang="zh-CN" altLang="en-US" dirty="0"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02 / SUMMARY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353312"/>
            <a:ext cx="7040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把“会回答”变成“会行动”。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914400" y="1874520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cs typeface="微软雅黑" panose="020B0503020204020204" pitchFamily="34" charset="-120"/>
              </a:rPr>
              <a:t>Agent 不是魔法，它只是把“会回答”变成了“会行动”。</a:t>
            </a:r>
            <a:endParaRPr lang="en-US" sz="18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3035808"/>
            <a:ext cx="2148840" cy="9144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115568" y="3200400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lt1"/>
                </a:solidFill>
                <a:cs typeface="Aptos Display" pitchFamily="34" charset="-120"/>
              </a:rPr>
              <a:t>01</a:t>
            </a:r>
            <a:endParaRPr lang="en-US" sz="900" dirty="0">
              <a:solidFill>
                <a:schemeClr val="lt1"/>
              </a:solidFill>
              <a:cs typeface="Aptos Display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115568" y="3493008"/>
            <a:ext cx="1746504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chemeClr val="lt1"/>
                </a:solidFill>
                <a:cs typeface="微软雅黑" panose="020B0503020204020204" pitchFamily="34" charset="-120"/>
              </a:rPr>
              <a:t>每一轮都带着最新上下文重新调用 LLM</a:t>
            </a:r>
            <a:endParaRPr lang="en-US" sz="840" dirty="0">
              <a:solidFill>
                <a:schemeClr val="lt1"/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83280" y="3035808"/>
            <a:ext cx="2148840" cy="9144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584448" y="3200400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lt1"/>
                </a:solidFill>
                <a:cs typeface="Aptos Display" pitchFamily="34" charset="-120"/>
              </a:rPr>
              <a:t>02</a:t>
            </a:r>
            <a:endParaRPr lang="en-US" sz="900" dirty="0">
              <a:solidFill>
                <a:schemeClr val="lt1"/>
              </a:solidFill>
              <a:cs typeface="Aptos Display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584448" y="3493008"/>
            <a:ext cx="1746504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chemeClr val="lt1"/>
                </a:solidFill>
                <a:cs typeface="微软雅黑" panose="020B0503020204020204" pitchFamily="34" charset="-120"/>
              </a:rPr>
              <a:t>LLM 决定是否调用工具</a:t>
            </a:r>
            <a:endParaRPr lang="en-US" sz="840" dirty="0">
              <a:solidFill>
                <a:schemeClr val="lt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52160" y="3035808"/>
            <a:ext cx="2148840" cy="91440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6053328" y="3200400"/>
            <a:ext cx="17465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lt1"/>
                </a:solidFill>
                <a:cs typeface="Aptos Display" pitchFamily="34" charset="-120"/>
              </a:rPr>
              <a:t>03</a:t>
            </a:r>
            <a:endParaRPr lang="en-US" sz="900" dirty="0">
              <a:solidFill>
                <a:schemeClr val="lt1"/>
              </a:solidFill>
              <a:cs typeface="Aptos Display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053328" y="3493008"/>
            <a:ext cx="1746504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chemeClr val="lt1"/>
                </a:solidFill>
                <a:cs typeface="微软雅黑" panose="020B0503020204020204" pitchFamily="34" charset="-120"/>
              </a:rPr>
              <a:t>工具结果再回到上下文里进入下一轮</a:t>
            </a:r>
            <a:endParaRPr lang="en-US" sz="840" dirty="0">
              <a:solidFill>
                <a:schemeClr val="lt1"/>
              </a:solidFill>
              <a:cs typeface="微软雅黑" panose="020B0503020204020204" pitchFamily="34" charset="-120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一句话理解</a:t>
            </a:r>
            <a:r>
              <a:rPr lang="zh-CN" altLang="en-US" dirty="0">
                <a:sym typeface="+mn-ea"/>
              </a:rPr>
              <a:t> Agent</a:t>
            </a:r>
            <a:endParaRPr lang="zh-CN" altLang="en-US" dirty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03 / LEARNING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353312"/>
            <a:ext cx="7040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微软雅黑" panose="020B0503020204020204" pitchFamily="34" charset="-120"/>
              </a:rPr>
              <a:t>不是追所有变化，而是建立感知，然后在需要的时候快速深入。</a:t>
            </a:r>
            <a:endParaRPr lang="en-US" sz="10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804672" y="2194560"/>
            <a:ext cx="19751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01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804672" y="2423160"/>
            <a:ext cx="197510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GitHub Trending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804672" y="268833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保持感知，知道社区正在关注什么。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19856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chemeClr val="accent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621024" y="2194560"/>
            <a:ext cx="19751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02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621024" y="2423160"/>
            <a:ext cx="197510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AI 辅助读源码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3621024" y="268833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让 AI 帮你找入口、理结构、解释实现。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36208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437376" y="2194560"/>
            <a:ext cx="197510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03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6437376" y="2423160"/>
            <a:ext cx="197510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高质量信息源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6437376" y="268833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chemeClr val="tx1"/>
                </a:solidFill>
                <a:cs typeface="微软雅黑" panose="020B0503020204020204" pitchFamily="34" charset="-120"/>
              </a:rPr>
              <a:t>固定关注官方文档、changelog 和社区精选。</a:t>
            </a:r>
            <a:endParaRPr lang="en-US" sz="8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不是追所有变化，而是建立感知，然后在需要的时候快速深入。</a:t>
            </a:r>
            <a:endParaRPr lang="en-US" sz="108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怎么持续跟进</a:t>
            </a:r>
            <a:r>
              <a:rPr lang="zh-CN" altLang="en-US" dirty="0">
                <a:sym typeface="+mn-ea"/>
              </a:rPr>
              <a:t> AI </a:t>
            </a:r>
            <a:r>
              <a:rPr lang="zh-CN" altLang="en-US" dirty="0">
                <a:sym typeface="+mn-ea"/>
              </a:rPr>
              <a:t>变化</a:t>
            </a:r>
            <a:endParaRPr lang="zh-CN" altLang="en-US" dirty="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Aptos Display" pitchFamily="34" charset="-120"/>
              </a:rPr>
              <a:t>PART 04 / TEAM PRACTICE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cs typeface="微软雅黑" panose="020B0503020204020204" pitchFamily="34" charset="-120"/>
              </a:rPr>
              <a:t>AI 能不能不只是代码助手，还能变成业务助手？</a:t>
            </a:r>
            <a:endParaRPr lang="en-US" sz="14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后端 API</a:t>
            </a:r>
            <a:endParaRPr lang="en-US" sz="125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>
                    <a:lumMod val="50000"/>
                    <a:hueOff val="10800000"/>
                  </a:schemeClr>
                </a:solidFill>
                <a:cs typeface="微软雅黑" panose="020B0503020204020204" pitchFamily="34" charset="-120"/>
              </a:rPr>
              <a:t>CLI 命令</a:t>
            </a:r>
            <a:endParaRPr lang="en-US" sz="1250" b="1" dirty="0">
              <a:solidFill>
                <a:schemeClr val="accent2">
                  <a:lumMod val="50000"/>
                  <a:hueOff val="1080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Agent</a:t>
            </a:r>
            <a:endParaRPr lang="en-US" sz="125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把已有系统能力，换一种更适合 Agent 调用的暴露方式。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cs typeface="微软雅黑" panose="020B0503020204020204" pitchFamily="34" charset="-120"/>
              </a:rPr>
              <a:t>把已有系统能力，换一种更适合 Agent 调用的暴露方式。</a:t>
            </a:r>
            <a:endParaRPr lang="en-US" sz="110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从代码助手，到业务助手</a:t>
            </a:r>
            <a:endParaRPr lang="zh-CN" altLang="en-US" dirty="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PART 04 / START SMALL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chemeClr val="tx1"/>
                </a:solidFill>
                <a:cs typeface="微软雅黑" panose="020B0503020204020204" pitchFamily="34" charset="-120"/>
              </a:rPr>
              <a:t>先从查询类、低写入风险场景开始试点。</a:t>
            </a:r>
            <a:endParaRPr lang="en-US" sz="106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14400" y="1920240"/>
            <a:ext cx="3300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自然语言交互示例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914400" y="2148840"/>
            <a:ext cx="33009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业务同学怎么问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914400" y="2432304"/>
            <a:ext cx="3300984" cy="1024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chemeClr val="tx1"/>
                </a:solidFill>
                <a:cs typeface="微软雅黑" panose="020B0503020204020204" pitchFamily="34" charset="-120"/>
              </a:rPr>
              <a:t>“查一下今天有多少笔待审批的付款”</a:t>
            </a:r>
            <a:endParaRPr lang="en-US" sz="98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980" dirty="0">
                <a:solidFill>
                  <a:schemeClr val="tx1"/>
                </a:solidFill>
                <a:cs typeface="微软雅黑" panose="020B0503020204020204" pitchFamily="34" charset="-120"/>
              </a:rPr>
              <a:t>“把金额最大的那笔详情给我看”</a:t>
            </a:r>
            <a:endParaRPr lang="en-US" sz="98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980" dirty="0">
                <a:solidFill>
                  <a:schemeClr val="tx1"/>
                </a:solidFill>
                <a:cs typeface="微软雅黑" panose="020B0503020204020204" pitchFamily="34" charset="-120"/>
              </a:rPr>
              <a:t>“这笔交易的汇率是多少”</a:t>
            </a:r>
            <a:endParaRPr lang="en-US" sz="98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18304" y="1755648"/>
            <a:ext cx="3703320" cy="2066544"/>
          </a:xfrm>
          <a:prstGeom prst="roundRect">
            <a:avLst>
              <a:gd name="adj" fmla="val 7965"/>
            </a:avLst>
          </a:prstGeom>
          <a:solidFill>
            <a:schemeClr val="accent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919472" y="1920240"/>
            <a:ext cx="330098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下一步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919472" y="2148840"/>
            <a:ext cx="33009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cs typeface="微软雅黑" panose="020B0503020204020204" pitchFamily="34" charset="-120"/>
              </a:rPr>
              <a:t>落地顺序</a:t>
            </a:r>
            <a:endParaRPr lang="en-US" sz="1300" b="1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4919472" y="2432304"/>
            <a:ext cx="3300984" cy="1024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chemeClr val="lt1"/>
                </a:solidFill>
                <a:cs typeface="微软雅黑" panose="020B0503020204020204" pitchFamily="34" charset="-120"/>
              </a:rPr>
              <a:t>1. 先做查询类 CLI</a:t>
            </a:r>
            <a:endParaRPr lang="en-US" sz="98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980" dirty="0">
                <a:solidFill>
                  <a:schemeClr val="lt1"/>
                </a:solidFill>
                <a:cs typeface="微软雅黑" panose="020B0503020204020204" pitchFamily="34" charset="-120"/>
              </a:rPr>
              <a:t>2. 打通权限体系</a:t>
            </a:r>
            <a:endParaRPr lang="en-US" sz="98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980" dirty="0">
                <a:solidFill>
                  <a:schemeClr val="lt1"/>
                </a:solidFill>
                <a:cs typeface="微软雅黑" panose="020B0503020204020204" pitchFamily="34" charset="-120"/>
              </a:rPr>
              <a:t>3. 留好审计日志</a:t>
            </a:r>
            <a:endParaRPr lang="en-US" sz="980" dirty="0">
              <a:solidFill>
                <a:schemeClr val="lt1"/>
              </a:solidFill>
            </a:endParaRPr>
          </a:p>
          <a:p>
            <a:pPr marL="0" indent="0">
              <a:buNone/>
            </a:pPr>
            <a:r>
              <a:rPr lang="en-US" sz="980" dirty="0">
                <a:solidFill>
                  <a:schemeClr val="lt1"/>
                </a:solidFill>
                <a:cs typeface="微软雅黑" panose="020B0503020204020204" pitchFamily="34" charset="-120"/>
              </a:rPr>
              <a:t>4. 再逐步扩展复杂操作</a:t>
            </a:r>
            <a:endParaRPr lang="en-US" sz="980" dirty="0">
              <a:solidFill>
                <a:schemeClr val="lt1"/>
              </a:solidFill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914400" y="4187952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chemeClr val="accent1">
                    <a:lumMod val="50000"/>
                  </a:schemeClr>
                </a:solidFill>
                <a:cs typeface="微软雅黑" panose="020B0503020204020204" pitchFamily="34" charset="-120"/>
              </a:rPr>
              <a:t>先做低风险试点，再逐步扩展复杂操作。</a:t>
            </a:r>
            <a:endParaRPr lang="en-US" sz="1120" b="1" dirty="0">
              <a:solidFill>
                <a:schemeClr val="accent1">
                  <a:lumMod val="50000"/>
                </a:schemeClr>
              </a:solidFill>
              <a:cs typeface="微软雅黑" panose="020B0503020204020204" pitchFamily="34" charset="-120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建议从低风险场景开始</a:t>
            </a:r>
            <a:endParaRPr lang="zh-CN" altLang="en-US" dirty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CLOSING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914400" y="1828800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cs typeface="微软雅黑" panose="020B0503020204020204" pitchFamily="34" charset="-120"/>
              </a:rPr>
              <a:t>AI 能放大你的能力，但不能替代你的判断。</a:t>
            </a:r>
            <a:endParaRPr lang="en-US" sz="24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960120" y="32461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  <a:cs typeface="微软雅黑" panose="020B0503020204020204" pitchFamily="34" charset="-120"/>
              </a:rPr>
              <a:t>工具会越来越强</a:t>
            </a:r>
            <a:endParaRPr lang="en-US" sz="125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3355848" y="32461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1"/>
                </a:solidFill>
                <a:cs typeface="微软雅黑" panose="020B0503020204020204" pitchFamily="34" charset="-120"/>
              </a:rPr>
              <a:t>速度会越来越快</a:t>
            </a:r>
            <a:endParaRPr lang="en-US" sz="125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5751576" y="32461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  <a:cs typeface="微软雅黑" panose="020B0503020204020204" pitchFamily="34" charset="-120"/>
              </a:rPr>
              <a:t>结果质量仍然取决于人的判断、规则和把关</a:t>
            </a:r>
            <a:endParaRPr lang="en-US" sz="105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最后想留给大家的一句话</a:t>
            </a:r>
            <a:endParaRPr lang="zh-CN" altLang="en-US" dirty="0"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02920" y="25603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  <a:cs typeface="Aptos Display" pitchFamily="34" charset="-120"/>
              </a:rPr>
              <a:t>AI Frontend Sharing</a:t>
            </a:r>
            <a:endParaRPr lang="en-US" sz="900" dirty="0">
              <a:solidFill>
                <a:schemeClr val="tx1"/>
              </a:solidFill>
              <a:cs typeface="Aptos Display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cs typeface="Aptos Display" pitchFamily="34" charset="-120"/>
              </a:rPr>
              <a:t>Q&amp;A</a:t>
            </a:r>
            <a:endParaRPr lang="en-US" sz="900" dirty="0">
              <a:solidFill>
                <a:schemeClr val="accent1">
                  <a:lumMod val="50000"/>
                </a:schemeClr>
              </a:solidFill>
              <a:cs typeface="Aptos Display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000" dirty="0">
              <a:solidFill>
                <a:schemeClr val="tx1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97280" y="2286000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  <a:cs typeface="微软雅黑" panose="020B0503020204020204" pitchFamily="34" charset="-120"/>
              </a:rPr>
              <a:t>中间任何部分，如果你想继续展开，我们可以直接往下聊。</a:t>
            </a:r>
            <a:endParaRPr lang="en-US" sz="1350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3886200" y="32004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3886200" y="3305556"/>
            <a:ext cx="137160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cs typeface="微软雅黑" panose="020B0503020204020204" pitchFamily="34" charset="-120"/>
              </a:rPr>
              <a:t>谢谢大家</a:t>
            </a:r>
            <a:endParaRPr lang="en-US" sz="950" dirty="0">
              <a:solidFill>
                <a:schemeClr val="bg1"/>
              </a:solidFill>
              <a:cs typeface="微软雅黑" panose="020B0503020204020204" pitchFamily="34" charset="-12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Q&amp;A</a:t>
            </a:r>
            <a:endParaRPr lang="zh-CN" altLang="en-US" dirty="0"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8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8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05_1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PRESET_TEXT" val="单击此处添加文档标题内容"/>
  <p:tag name="KSO_WM_UNIT_TEXT_TYPE" val="1"/>
</p:tagLst>
</file>

<file path=ppt/tags/tag86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05_1*f*4"/>
  <p:tag name="KSO_WM_TEMPLATE_CATEGORY" val="custom"/>
  <p:tag name="KSO_WM_TEMPLATE_INDEX" val="20233105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SLIDE_ID" val="custom20233105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05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202"/>
  <p:tag name="KSO_WM_SLIDE_THEME_NAME" val="紫色半圆线条极简风主题"/>
</p:tagLst>
</file>

<file path=ppt/tags/tag88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INDEX" val="8"/>
  <p:tag name="KSO_WM_UNIT_TYPE" val="i"/>
  <p:tag name="KSO_WM_UNIT_SUBTYPE" val="h"/>
  <p:tag name="KSO_WM_BEAUTIFY_FLAG" val="#wm#"/>
</p:tagLst>
</file>

<file path=ppt/tags/tag92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95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96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97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98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99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100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101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</p:tagLst>
</file>

<file path=ppt/tags/tag102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103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</p:tagLst>
</file>

<file path=ppt/tags/tag104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UNIT_ID" val="diagram19882022*l_h_a*1_4_2"/>
  <p:tag name="KSO_WM_DIAGRAM_GROUP_CODE" val="l1-1"/>
  <p:tag name="KSO_WM_TAG_VERSION" val="2.0"/>
  <p:tag name="KSO_WM_BEAUTIFY_FLAG" val="#wm#"/>
</p:tagLst>
</file>

<file path=ppt/tags/tag105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</p:tagLst>
</file>

<file path=ppt/tags/tag10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8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9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12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11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15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16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17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18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1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20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21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DIAGRAM_VIRTUALLY_FRAME" val="{&quot;height&quot;:128.16000000000003,&quot;left&quot;:74.88,&quot;top&quot;:161.28,&quot;width&quot;:556.56}"/>
</p:tagLst>
</file>

<file path=ppt/tags/tag12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TEXT" val="这场分享的主线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24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5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128.xml><?xml version="1.0" encoding="utf-8"?>
<p:tagLst xmlns:p="http://schemas.openxmlformats.org/presentationml/2006/main">
  <p:tag name="KSO_WM_UNIT_INDEX" val="16"/>
  <p:tag name="KSO_WM_UNIT_TYPE" val="i"/>
  <p:tag name="KSO_WM_UNIT_SUBTYPE" val="h"/>
  <p:tag name="KSO_WM_BEAUTIFY_FLAG" val="#wm#"/>
</p:tagLst>
</file>

<file path=ppt/tags/tag12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3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33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3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13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37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TEXT" val="为什么不能一上来就让 AI 直接写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1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2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45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14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48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49.xml><?xml version="1.0" encoding="utf-8"?>
<p:tagLst xmlns:p="http://schemas.openxmlformats.org/presentationml/2006/main">
  <p:tag name="KSO_WM_UNIT_INDEX" val="1_1_5"/>
  <p:tag name="KSO_WM_UNIT_TYPE" val="l_h_f"/>
  <p:tag name="KSO_WM_UNIT_SUBTYPE" val="a"/>
  <p:tag name="KSO_WM_TEMPLATE_CATEGORY" val="diagram"/>
  <p:tag name="KSO_WM_TEMPLATE_INDEX" val="19882022"/>
  <p:tag name="KSO_WM_UNIT_ID" val="diagram19882022*l_h_f*1_1_5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50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51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52.xml><?xml version="1.0" encoding="utf-8"?>
<p:tagLst xmlns:p="http://schemas.openxmlformats.org/presentationml/2006/main">
  <p:tag name="KSO_WM_UNIT_INDEX" val="1_2_6"/>
  <p:tag name="KSO_WM_UNIT_TYPE" val="l_h_f"/>
  <p:tag name="KSO_WM_UNIT_SUBTYPE" val="a"/>
  <p:tag name="KSO_WM_TEMPLATE_CATEGORY" val="diagram"/>
  <p:tag name="KSO_WM_TEMPLATE_INDEX" val="19882022"/>
  <p:tag name="KSO_WM_UNIT_ID" val="diagram19882022*l_h_f*1_2_6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5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TEXT" val="PEV 工作流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5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6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5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16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NDEX" val="1_1_5"/>
  <p:tag name="KSO_WM_UNIT_TYPE" val="l_h_i"/>
  <p:tag name="KSO_WM_UNIT_SUBTYPE" val="d"/>
  <p:tag name="KSO_WM_TEMPLATE_CATEGORY" val="diagram"/>
  <p:tag name="KSO_WM_TEMPLATE_INDEX" val="19882022"/>
  <p:tag name="KSO_WM_UNIT_ID" val="diagram19882022*l_h_i*1_1_5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2.xml><?xml version="1.0" encoding="utf-8"?>
<p:tagLst xmlns:p="http://schemas.openxmlformats.org/presentationml/2006/main">
  <p:tag name="KSO_WM_UNIT_INDEX" val="1_1_4"/>
  <p:tag name="KSO_WM_UNIT_TYPE" val="l_h_a"/>
  <p:tag name="KSO_WM_TEMPLATE_CATEGORY" val="diagram"/>
  <p:tag name="KSO_WM_TEMPLATE_INDEX" val="19882022"/>
  <p:tag name="KSO_WM_UNIT_ID" val="diagram19882022*l_h_a*1_1_4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3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4.xml><?xml version="1.0" encoding="utf-8"?>
<p:tagLst xmlns:p="http://schemas.openxmlformats.org/presentationml/2006/main">
  <p:tag name="KSO_WM_UNIT_INDEX" val="1_2_5"/>
  <p:tag name="KSO_WM_UNIT_TYPE" val="l_h_i"/>
  <p:tag name="KSO_WM_UNIT_SUBTYPE" val="d"/>
  <p:tag name="KSO_WM_TEMPLATE_CATEGORY" val="diagram"/>
  <p:tag name="KSO_WM_TEMPLATE_INDEX" val="19882022"/>
  <p:tag name="KSO_WM_UNIT_ID" val="diagram19882022*l_h_i*1_2_5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5.xml><?xml version="1.0" encoding="utf-8"?>
<p:tagLst xmlns:p="http://schemas.openxmlformats.org/presentationml/2006/main">
  <p:tag name="KSO_WM_UNIT_INDEX" val="1_2_4"/>
  <p:tag name="KSO_WM_UNIT_TYPE" val="l_h_a"/>
  <p:tag name="KSO_WM_TEMPLATE_CATEGORY" val="diagram"/>
  <p:tag name="KSO_WM_TEMPLATE_INDEX" val="19882022"/>
  <p:tag name="KSO_WM_UNIT_ID" val="diagram19882022*l_h_a*1_2_4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6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7.xml><?xml version="1.0" encoding="utf-8"?>
<p:tagLst xmlns:p="http://schemas.openxmlformats.org/presentationml/2006/main">
  <p:tag name="KSO_WM_UNIT_INDEX" val="1_3_5"/>
  <p:tag name="KSO_WM_UNIT_TYPE" val="l_h_i"/>
  <p:tag name="KSO_WM_UNIT_SUBTYPE" val="d"/>
  <p:tag name="KSO_WM_TEMPLATE_CATEGORY" val="diagram"/>
  <p:tag name="KSO_WM_TEMPLATE_INDEX" val="19882022"/>
  <p:tag name="KSO_WM_UNIT_ID" val="diagram19882022*l_h_i*1_3_5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8.xml><?xml version="1.0" encoding="utf-8"?>
<p:tagLst xmlns:p="http://schemas.openxmlformats.org/presentationml/2006/main">
  <p:tag name="KSO_WM_UNIT_INDEX" val="1_3_4"/>
  <p:tag name="KSO_WM_UNIT_TYPE" val="l_h_a"/>
  <p:tag name="KSO_WM_TEMPLATE_CATEGORY" val="diagram"/>
  <p:tag name="KSO_WM_TEMPLATE_INDEX" val="19882022"/>
  <p:tag name="KSO_WM_UNIT_ID" val="diagram19882022*l_h_a*1_3_4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69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DIAGRAM_VIRTUALLY_FRAME" val="{&quot;height&quot;:152.64000000000001,&quot;left&quot;:75.6,&quot;top&quot;:147.6,&quot;width&quot;:513.36}"/>
</p:tagLst>
</file>

<file path=ppt/tags/tag17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PLAN：先出计划，不先写代码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73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76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17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78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79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80.xml><?xml version="1.0" encoding="utf-8"?>
<p:tagLst xmlns:p="http://schemas.openxmlformats.org/presentationml/2006/main">
  <p:tag name="KSO_WM_UNIT_INDEX" val="1_1_6"/>
  <p:tag name="KSO_WM_UNIT_TYPE" val="l_h_f"/>
  <p:tag name="KSO_WM_UNIT_SUBTYPE" val="a"/>
  <p:tag name="KSO_WM_TEMPLATE_CATEGORY" val="diagram"/>
  <p:tag name="KSO_WM_TEMPLATE_INDEX" val="19882022"/>
  <p:tag name="KSO_WM_UNIT_ID" val="diagram19882022*l_h_f*1_1_6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81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82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83.xml><?xml version="1.0" encoding="utf-8"?>
<p:tagLst xmlns:p="http://schemas.openxmlformats.org/presentationml/2006/main">
  <p:tag name="KSO_WM_UNIT_INDEX" val="1_2_6"/>
  <p:tag name="KSO_WM_UNIT_TYPE" val="l_h_f"/>
  <p:tag name="KSO_WM_UNIT_SUBTYPE" val="a"/>
  <p:tag name="KSO_WM_TEMPLATE_CATEGORY" val="diagram"/>
  <p:tag name="KSO_WM_TEMPLATE_INDEX" val="19882022"/>
  <p:tag name="KSO_WM_UNIT_ID" val="diagram19882022*l_h_f*1_2_6"/>
  <p:tag name="KSO_WM_DIAGRAM_GROUP_CODE" val="l1-1"/>
  <p:tag name="KSO_WM_TAG_VERSION" val="2.0"/>
  <p:tag name="KSO_WM_BEAUTIFY_FLAG" val="#wm#"/>
  <p:tag name="KSO_WM_DIAGRAM_VIRTUALLY_FRAME" val="{&quot;height&quot;:120.96,&quot;left&quot;:72,&quot;top&quot;:151.2,&quot;width&quot;:575.28}"/>
</p:tagLst>
</file>

<file path=ppt/tags/tag18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85.xml><?xml version="1.0" encoding="utf-8"?>
<p:tagLst xmlns:p="http://schemas.openxmlformats.org/presentationml/2006/main">
  <p:tag name="KSO_WM_UNIT_TEXT" val="确认方案后，再放行执行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86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87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8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89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190.xml><?xml version="1.0" encoding="utf-8"?>
<p:tagLst xmlns:p="http://schemas.openxmlformats.org/presentationml/2006/main">
  <p:tag name="KSO_WM_UNIT_INDEX" val="21"/>
  <p:tag name="KSO_WM_UNIT_TYPE" val="i"/>
  <p:tag name="KSO_WM_UNIT_SUBTYPE" val="h"/>
  <p:tag name="KSO_WM_BEAUTIFY_FLAG" val="#wm#"/>
</p:tagLst>
</file>

<file path=ppt/tags/tag19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9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93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94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19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96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97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198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99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01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0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20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05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06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UNIT_TEXT" val="人做最后的质量把关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08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0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1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7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21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105_7*e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213.xml><?xml version="1.0" encoding="utf-8"?>
<p:tagLst xmlns:p="http://schemas.openxmlformats.org/presentationml/2006/main">
  <p:tag name="KSO_WM_SLIDE_ID" val="custom20233105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105"/>
  <p:tag name="KSO_WM_SLIDE_TYPE" val="sectionTitle"/>
  <p:tag name="KSO_WM_SLIDE_SUBTYPE" val="pureTxt"/>
  <p:tag name="KSO_WM_SLIDE_LAYOUT" val="a_e"/>
  <p:tag name="KSO_WM_SLIDE_LAYOUT_CNT" val="1_1"/>
  <p:tag name="KSO_WM_SLIDE_THEME_ID" val="3321202"/>
  <p:tag name="KSO_WM_SLIDE_THEME_NAME" val="紫色半圆线条极简风主题"/>
</p:tagLst>
</file>

<file path=ppt/tags/tag214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1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217.xml><?xml version="1.0" encoding="utf-8"?>
<p:tagLst xmlns:p="http://schemas.openxmlformats.org/presentationml/2006/main">
  <p:tag name="KSO_WM_UNIT_INDEX" val="23"/>
  <p:tag name="KSO_WM_UNIT_TYPE" val="i"/>
  <p:tag name="KSO_WM_UNIT_SUBTYPE" val="h"/>
  <p:tag name="KSO_WM_BEAUTIFY_FLAG" val="#wm#"/>
</p:tagLst>
</file>

<file path=ppt/tags/tag21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19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20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22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2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23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2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26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27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28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29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230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31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32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33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34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235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36.xml><?xml version="1.0" encoding="utf-8"?>
<p:tagLst xmlns:p="http://schemas.openxmlformats.org/presentationml/2006/main">
  <p:tag name="KSO_WM_UNIT_TEXT" val="发现 Bug 后，不是直接修，而是先写红测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37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38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3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40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41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242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UNIT_INDEX" val="1_1_5"/>
  <p:tag name="KSO_WM_UNIT_TYPE" val="l_h_f"/>
  <p:tag name="KSO_WM_UNIT_SUBTYPE" val="a"/>
  <p:tag name="KSO_WM_TEMPLATE_CATEGORY" val="diagram"/>
  <p:tag name="KSO_WM_TEMPLATE_INDEX" val="19882022"/>
  <p:tag name="KSO_WM_UNIT_ID" val="diagram19882022*l_h_f*1_1_5"/>
  <p:tag name="KSO_WM_DIAGRAM_GROUP_CODE" val="l1-1"/>
  <p:tag name="KSO_WM_TAG_VERSION" val="2.0"/>
  <p:tag name="KSO_WM_BEAUTIFY_FLAG" val="#wm#"/>
</p:tagLst>
</file>

<file path=ppt/tags/tag244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245.xml><?xml version="1.0" encoding="utf-8"?>
<p:tagLst xmlns:p="http://schemas.openxmlformats.org/presentationml/2006/main">
  <p:tag name="KSO_WM_UNIT_INDEX" val="1_3_9"/>
  <p:tag name="KSO_WM_UNIT_TYPE" val="l_h_f"/>
  <p:tag name="KSO_WM_UNIT_SUBTYPE" val="a"/>
  <p:tag name="KSO_WM_TEMPLATE_CATEGORY" val="diagram"/>
  <p:tag name="KSO_WM_TEMPLATE_INDEX" val="19882022"/>
  <p:tag name="KSO_WM_UNIT_ID" val="diagram19882022*l_h_f*1_3_9"/>
  <p:tag name="KSO_WM_DIAGRAM_GROUP_CODE" val="l1-1"/>
  <p:tag name="KSO_WM_TAG_VERSION" val="2.0"/>
  <p:tag name="KSO_WM_BEAUTIFY_FLAG" val="#wm#"/>
</p:tagLst>
</file>

<file path=ppt/tags/tag24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47.xml><?xml version="1.0" encoding="utf-8"?>
<p:tagLst xmlns:p="http://schemas.openxmlformats.org/presentationml/2006/main">
  <p:tag name="KSO_WM_UNIT_TEXT" val="Agent 是怎么一轮轮工作的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48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49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5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51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52.xml><?xml version="1.0" encoding="utf-8"?>
<p:tagLst xmlns:p="http://schemas.openxmlformats.org/presentationml/2006/main">
  <p:tag name="KSO_WM_UNIT_INDEX" val="10"/>
  <p:tag name="KSO_WM_UNIT_TYPE" val="i"/>
  <p:tag name="KSO_WM_UNIT_SUBTYPE" val="h"/>
  <p:tag name="KSO_WM_BEAUTIFY_FLAG" val="#wm#"/>
</p:tagLst>
</file>

<file path=ppt/tags/tag25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5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55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256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257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5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5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60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6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6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64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65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66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67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68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6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70.xml><?xml version="1.0" encoding="utf-8"?>
<p:tagLst xmlns:p="http://schemas.openxmlformats.org/presentationml/2006/main">
  <p:tag name="KSO_WM_UNIT_TEXT" val="messages 为什么会越来越长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71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72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7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74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75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27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78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279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280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281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282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283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284.xml><?xml version="1.0" encoding="utf-8"?>
<p:tagLst xmlns:p="http://schemas.openxmlformats.org/presentationml/2006/main">
  <p:tag name="KSO_WM_UNIT_TEXT" val="LLM 为什么不只是会回答，还能调用工具？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85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86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8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8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89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29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91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292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293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294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295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296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297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298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</p:tagLst>
</file>

<file path=ppt/tags/tag299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30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01.xml><?xml version="1.0" encoding="utf-8"?>
<p:tagLst xmlns:p="http://schemas.openxmlformats.org/presentationml/2006/main">
  <p:tag name="KSO_WM_UNIT_TEXT" val="一句话理解 Agent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02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03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304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05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06.xml><?xml version="1.0" encoding="utf-8"?>
<p:tagLst xmlns:p="http://schemas.openxmlformats.org/presentationml/2006/main">
  <p:tag name="KSO_WM_UNIT_INDEX" val="14"/>
  <p:tag name="KSO_WM_UNIT_TYPE" val="i"/>
  <p:tag name="KSO_WM_UNIT_SUBTYPE" val="h"/>
  <p:tag name="KSO_WM_BEAUTIFY_FLAG" val="#wm#"/>
</p:tagLst>
</file>

<file path=ppt/tags/tag30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08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0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10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1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31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13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31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315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31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317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318.xml><?xml version="1.0" encoding="utf-8"?>
<p:tagLst xmlns:p="http://schemas.openxmlformats.org/presentationml/2006/main">
  <p:tag name="KSO_WM_UNIT_TEXT" val="怎么持续跟进 AI 变化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19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20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32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22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323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32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25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326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327.xml><?xml version="1.0" encoding="utf-8"?>
<p:tagLst xmlns:p="http://schemas.openxmlformats.org/presentationml/2006/main">
  <p:tag name="KSO_WM_UNIT_INDEX" val="1_1_5"/>
  <p:tag name="KSO_WM_UNIT_TYPE" val="l_h_f"/>
  <p:tag name="KSO_WM_UNIT_SUBTYPE" val="a"/>
  <p:tag name="KSO_WM_TEMPLATE_CATEGORY" val="diagram"/>
  <p:tag name="KSO_WM_TEMPLATE_INDEX" val="19882022"/>
  <p:tag name="KSO_WM_UNIT_ID" val="diagram19882022*l_h_f*1_1_5"/>
  <p:tag name="KSO_WM_DIAGRAM_GROUP_CODE" val="l1-1"/>
  <p:tag name="KSO_WM_TAG_VERSION" val="2.0"/>
  <p:tag name="KSO_WM_BEAUTIFY_FLAG" val="#wm#"/>
</p:tagLst>
</file>

<file path=ppt/tags/tag328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329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330.xml><?xml version="1.0" encoding="utf-8"?>
<p:tagLst xmlns:p="http://schemas.openxmlformats.org/presentationml/2006/main">
  <p:tag name="KSO_WM_UNIT_INDEX" val="1_2_6"/>
  <p:tag name="KSO_WM_UNIT_TYPE" val="l_h_f"/>
  <p:tag name="KSO_WM_UNIT_SUBTYPE" val="a"/>
  <p:tag name="KSO_WM_TEMPLATE_CATEGORY" val="diagram"/>
  <p:tag name="KSO_WM_TEMPLATE_INDEX" val="19882022"/>
  <p:tag name="KSO_WM_UNIT_ID" val="diagram19882022*l_h_f*1_2_6"/>
  <p:tag name="KSO_WM_DIAGRAM_GROUP_CODE" val="l1-1"/>
  <p:tag name="KSO_WM_TAG_VERSION" val="2.0"/>
  <p:tag name="KSO_WM_BEAUTIFY_FLAG" val="#wm#"/>
</p:tagLst>
</file>

<file path=ppt/tags/tag33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32.xml><?xml version="1.0" encoding="utf-8"?>
<p:tagLst xmlns:p="http://schemas.openxmlformats.org/presentationml/2006/main">
  <p:tag name="KSO_WM_UNIT_TEXT" val="从代码助手，到业务助手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33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34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33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36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37.xml><?xml version="1.0" encoding="utf-8"?>
<p:tagLst xmlns:p="http://schemas.openxmlformats.org/presentationml/2006/main">
  <p:tag name="KSO_WM_UNIT_INDEX" val="5"/>
  <p:tag name="KSO_WM_UNIT_TYPE" val="i"/>
  <p:tag name="KSO_WM_UNIT_SUBTYPE" val="h"/>
  <p:tag name="KSO_WM_BEAUTIFY_FLAG" val="#wm#"/>
</p:tagLst>
</file>

<file path=ppt/tags/tag338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339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340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341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342.xml><?xml version="1.0" encoding="utf-8"?>
<p:tagLst xmlns:p="http://schemas.openxmlformats.org/presentationml/2006/main">
  <p:tag name="KSO_WM_UNIT_TEXT" val="建议从低风险场景开始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43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44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34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46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47.xml><?xml version="1.0" encoding="utf-8"?>
<p:tagLst xmlns:p="http://schemas.openxmlformats.org/presentationml/2006/main">
  <p:tag name="KSO_WM_UNIT_INDEX" val="6"/>
  <p:tag name="KSO_WM_UNIT_TYPE" val="i"/>
  <p:tag name="KSO_WM_UNIT_SUBTYPE" val="h"/>
  <p:tag name="KSO_WM_BEAUTIFY_FLAG" val="#wm#"/>
</p:tagLst>
</file>

<file path=ppt/tags/tag34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4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5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51.xml><?xml version="1.0" encoding="utf-8"?>
<p:tagLst xmlns:p="http://schemas.openxmlformats.org/presentationml/2006/main">
  <p:tag name="KSO_WM_UNIT_TEXT" val="最后想留给大家的一句话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52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3335</Words>
  <Application>WPS 演示</Application>
  <PresentationFormat>On-screen Show (16:9)</PresentationFormat>
  <Paragraphs>487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Aptos Display</vt:lpstr>
      <vt:lpstr>Segoe UI Variable Display</vt:lpstr>
      <vt:lpstr>Aptos Display</vt:lpstr>
      <vt:lpstr>Aptos Display</vt:lpstr>
      <vt:lpstr>微软雅黑</vt:lpstr>
      <vt:lpstr>微软雅黑</vt:lpstr>
      <vt:lpstr>Consolas</vt:lpstr>
      <vt:lpstr>Consolas</vt:lpstr>
      <vt:lpstr>Consolas</vt:lpstr>
      <vt:lpstr>Arial Unicode MS</vt:lpstr>
      <vt:lpstr>等线</vt:lpstr>
      <vt:lpstr>Wingdings</vt:lpstr>
      <vt:lpstr>等线 Light</vt:lpstr>
      <vt:lpstr>Office Theme</vt:lpstr>
      <vt:lpstr>Office 主题​​</vt:lpstr>
      <vt:lpstr>AI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AI Frontend Sharing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Share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OpenAI Codex</dc:creator>
  <dc:subject>PptxGenJS Presentation</dc:subject>
  <cp:lastModifiedBy>Sylvia</cp:lastModifiedBy>
  <cp:revision>2</cp:revision>
  <dcterms:created xsi:type="dcterms:W3CDTF">2026-05-10T19:30:00Z</dcterms:created>
  <dcterms:modified xsi:type="dcterms:W3CDTF">2026-05-10T19:44:34Z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5F608F9D45D74ECF82ECD5705426A858_12</vt:lpwstr>
  </property>
</Properties>
</file>